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0" r:id="rId3"/>
    <p:sldId id="273" r:id="rId4"/>
    <p:sldId id="271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3B6662-1810-0EC9-5E26-76E2976AD36D}" name="F H" initials="FH" userId="ab6120504ff078b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4660"/>
  </p:normalViewPr>
  <p:slideViewPr>
    <p:cSldViewPr snapToGrid="0">
      <p:cViewPr varScale="1">
        <p:scale>
          <a:sx n="66" d="100"/>
          <a:sy n="66" d="100"/>
        </p:scale>
        <p:origin x="11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9F2D-C3C1-DED0-62DA-1840B870F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C58EF-9365-A01D-EE56-28FA2969A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64A58-3278-F436-7603-4CD1396B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C231-84DF-0C0E-0662-7D8CDEA4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0C5DF-3C23-12FE-AF6A-08F61DAB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5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6E55-F505-3FB1-F43B-628E2522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8D59-D715-2333-07D1-71EE588A6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61D7C-9861-151E-78B4-83547574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1F139-0A04-267A-810E-91BCF87A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C63C2-94C7-B3C4-7BE6-F2389C42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1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12C2-6A6D-02A1-649F-2366D1F4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557BA-6635-FE19-3442-F9F344A9B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6A6FC-A693-EF0C-E13F-ABE98036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F1EB3-822D-CE92-CCED-A9AE0F95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AD83-B43C-5CC5-40E6-6C4A84A2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0E0E-C9CF-1AB2-296D-8993572B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9ED75-695C-1C62-F16D-3739EDBF9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CB2C6-B47B-D71A-7DBA-6D0423C22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64402-07CF-0B49-27C5-926B26F5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595B4-C50F-B587-6E80-28FEA232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AACD2-A313-755E-57A2-406E06B8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1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A416-9EB5-972F-1B6B-E390AA12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647B0-524D-A49C-1E94-F4D09D2B9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83D2D-AB2A-3779-8507-C7E9ECC1E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E9E16-48AD-8AD0-2AF2-B9EFEE5DB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D025B-5AA9-71A6-E3BF-E02E3888C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7BAA8-4B96-4DA6-7AF7-1043F3B6E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6608B-3644-051E-5BE8-9C8353CC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31567D-2220-0A68-A050-639A7957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5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9843-2D3B-4912-0BB7-2E9137CB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281A6-8985-62C4-C850-16F86737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266EE-FBA9-1DA8-640A-4E15B26E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236BB-1E7D-7817-B410-38FC0347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7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3F3AC-406B-D963-1AAF-97BB55DC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9C061-55C1-2E28-2279-0CBBAED2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2EFE7-BC52-5E99-E1D9-DD524046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8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B412-A0D6-E51F-7644-58CA4622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773A3-6992-BACD-9F8E-3086A8F72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F28DB-6612-FD53-8BEB-8D40F4074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561CC-C498-7E5E-B3B9-71ED1779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F0C9D-B2FA-312C-0DC3-C035B50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8E196-E48D-23C1-F43A-FBB4BDB5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BAC0-9DBA-0F9E-D9AC-0E689EDA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0790B-5E48-0921-24C2-CE866DE04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2E5A3-B618-94E2-2E68-D74E417A0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EDE33-1F2C-05B9-3F97-67D2080A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C9F6B-440B-3099-FCE7-DB8788D9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AE3AA-B34B-BDB9-061B-B6A919EF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1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C142-A649-8C07-5B93-36AD707B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4CF05-D613-6479-13A0-15016C3A7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0F4C1-7490-C790-55A5-A7789F5A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96A1-C9F2-6F66-26BE-99DAE492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2F1CA-9635-1EEB-C1A4-9ED22E26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8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5D820-AF2B-05C7-9836-543E96E8E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6F921-6A70-7040-B29E-915F2107F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5B1B-F5CE-DB67-1DEB-30EE1E3A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C211D-B136-A8ED-B08F-6FAD2ACF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985FD-A7EC-8328-6378-12D2F15E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3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163F6-FC9F-A296-5FD1-A7EC0063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13665-3534-89D3-291E-CB57DF2B9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E60B8-7BB2-03FD-1782-BF387C3AE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75ABA-E762-40EA-868B-D9453438FD7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6129-556E-C120-9D79-A30A71F79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5424-2F99-7319-6A2F-6AB8AE19D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F7B86-B623-4A16-824F-B4923D46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6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A1271-541D-7408-A2B3-3205AC5A8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294539"/>
            <a:ext cx="9895951" cy="8230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Supply Chain Management Analytics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13512-FFEF-93DB-F09A-A1337F55A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76" y="3555999"/>
            <a:ext cx="12000088" cy="3149601"/>
          </a:xfr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algn="l"/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algn="l">
              <a:lnSpc>
                <a:spcPct val="120000"/>
              </a:lnSpc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demonstrate how a simulated  SAP and ERP system can be used to  analyze material requirements, verify bills of materials(BOMs), track inventory levels, monitor order delinquencies, and evaluate on-time delivery. These analyses support operational efficiency , strengthen cost control, and improve supply chain visibility. 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System Activities</a:t>
            </a:r>
          </a:p>
          <a:p>
            <a:pPr marL="3995738" indent="-3995738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pPr marL="4346575" indent="-4064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material availability and review material requirements. </a:t>
            </a:r>
          </a:p>
          <a:p>
            <a:pPr marL="4346575" indent="-4064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 BOMs to assess material capability for production scheduling.</a:t>
            </a:r>
          </a:p>
          <a:p>
            <a:pPr marL="4346575" lvl="1" indent="-40640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4176713" algn="l"/>
              </a:tabLst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material stock, storage locations, and  quantities.</a:t>
            </a:r>
          </a:p>
          <a:p>
            <a:pPr marL="4346575" lvl="1" indent="-40640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4176713" algn="l"/>
              </a:tabLst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freight  order  statuses.</a:t>
            </a:r>
          </a:p>
          <a:p>
            <a:pPr marL="4346575" lvl="1" indent="-40640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4176713" algn="l"/>
              </a:tabLst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 delivery  performance. </a:t>
            </a:r>
          </a:p>
          <a:p>
            <a:pPr algn="l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2B5F7-4EB5-AC46-0902-0875D6CB8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6" y="3556000"/>
            <a:ext cx="3817846" cy="300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9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6A3C-A365-14F2-FC24-9D7D6903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312515"/>
            <a:ext cx="10515600" cy="166719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 Requirements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3CFEE-D560-1750-B96F-E1BA0C888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611" y="995423"/>
            <a:ext cx="5157786" cy="202601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requirement planning elements appear with a negative number in red for quantity and availability.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31645-1720-75BE-3DE6-E350B8450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00210" y="3727050"/>
            <a:ext cx="5157786" cy="21355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requirements planning elements display the stock quantity and stock availability </a:t>
            </a:r>
            <a:r>
              <a:rPr lang="en-US" b="0" dirty="0"/>
              <a:t>as positive numbers in pieces.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85BA534C-44F1-595B-7FF8-8B0578BA26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4017" y="735546"/>
            <a:ext cx="5496003" cy="2991503"/>
          </a:xfrm>
          <a:prstGeom prst="rect">
            <a:avLst/>
          </a:prstGeom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35B13D21-5230-81E9-0EA4-077843F7B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7" y="3727049"/>
            <a:ext cx="5496003" cy="313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4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68E-B0B1-7B98-EC02-F8F58E87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21482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of 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7253C-E241-B412-EDC8-125E93787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2602" y="2596153"/>
            <a:ext cx="4129609" cy="139711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BOM details, including its description, quantity, and  plant location, to determine whether materials are available to schedule production.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62DE4-F9A7-7641-7358-38F5784BC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49924" y="3715474"/>
            <a:ext cx="4005464" cy="1851950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material availability is confirmed, create a work order to allocate quantity for the specified  production plant location.</a:t>
            </a: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4CEEB454-3454-DBE4-48C9-D86273F39D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1701380"/>
            <a:ext cx="5827230" cy="207486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4200BB-E22C-02A5-8C1E-D982BF2F0ED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39788" y="3993265"/>
            <a:ext cx="5827230" cy="197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8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37E5-FBF0-1DE7-5AB8-D3E89ADE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Inventory Levels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0E47B-7275-2F79-52AE-61AA5C08D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8430" y="2459359"/>
            <a:ext cx="4548851" cy="20200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a specific material number to view its stock quantity.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C5A952-25A4-F26C-03ED-8EC248E0C3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199190"/>
            <a:ext cx="5526288" cy="336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2151-2DDD-5478-6B99-0C02EA9FA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Delinquencies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BBBB4-8CE0-AB61-EE8B-A32D238BE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1190" y="3032566"/>
            <a:ext cx="4687747" cy="141211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freight order confirmation shows the order arrival location  and time.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69F8105E-EA3D-ECA6-5816-AEFE4DC24E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9129" y="1690688"/>
            <a:ext cx="6028440" cy="431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8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BCFF-F8CC-1520-00F9-F9AEEE45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Delivery Performance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8664-1FE5-F256-0E0B-4C4434FD0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7222599" y="2835797"/>
            <a:ext cx="4745623" cy="24538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comparison, this diagram shows that the goods receipt (GR) quantity reflects a difference (shortage) on  September 20. 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6CA6101-C05A-6EB2-3E64-34776D9A43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1690688"/>
            <a:ext cx="5157787" cy="410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95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247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             Supply Chain Management Analytics</vt:lpstr>
      <vt:lpstr> Material Requirements </vt:lpstr>
      <vt:lpstr>Bill of Materials</vt:lpstr>
      <vt:lpstr>                              Inventory Levels</vt:lpstr>
      <vt:lpstr>Order Delinquencies</vt:lpstr>
      <vt:lpstr>                            Delivery Performance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 Huang</dc:creator>
  <cp:lastModifiedBy>F H</cp:lastModifiedBy>
  <cp:revision>6</cp:revision>
  <dcterms:created xsi:type="dcterms:W3CDTF">2026-07-18T23:58:33Z</dcterms:created>
  <dcterms:modified xsi:type="dcterms:W3CDTF">2026-09-23T21:47:44Z</dcterms:modified>
</cp:coreProperties>
</file>